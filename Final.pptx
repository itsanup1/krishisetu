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73" r:id="rId3"/>
    <p:sldId id="274" r:id="rId4"/>
    <p:sldId id="275" r:id="rId5"/>
    <p:sldId id="260" r:id="rId6"/>
    <p:sldId id="261" r:id="rId7"/>
    <p:sldId id="262" r:id="rId8"/>
    <p:sldId id="276" r:id="rId9"/>
    <p:sldId id="263" r:id="rId10"/>
    <p:sldId id="277" r:id="rId11"/>
    <p:sldId id="278" r:id="rId12"/>
    <p:sldId id="264" r:id="rId13"/>
    <p:sldId id="279" r:id="rId14"/>
    <p:sldId id="265" r:id="rId15"/>
    <p:sldId id="266" r:id="rId16"/>
    <p:sldId id="267" r:id="rId17"/>
    <p:sldId id="268" r:id="rId1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1E98FA-A9BB-4FC5-AE7F-8E2F0345A65D}" v="1" dt="2026-09-10T18:57:33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odeep Ahire" userId="a0c4882da2b5feb8" providerId="LiveId" clId="{E42D76C3-1178-4805-AD9E-6A5459AF6277}"/>
    <pc:docChg chg="modSld">
      <pc:chgData name="Yashodeep Ahire" userId="a0c4882da2b5feb8" providerId="LiveId" clId="{E42D76C3-1178-4805-AD9E-6A5459AF6277}" dt="2026-09-10T19:29:16.687" v="17" actId="14100"/>
      <pc:docMkLst>
        <pc:docMk/>
      </pc:docMkLst>
      <pc:sldChg chg="modSp">
        <pc:chgData name="Yashodeep Ahire" userId="a0c4882da2b5feb8" providerId="LiveId" clId="{E42D76C3-1178-4805-AD9E-6A5459AF6277}" dt="2026-09-10T18:57:33.479" v="0" actId="1076"/>
        <pc:sldMkLst>
          <pc:docMk/>
          <pc:sldMk cId="3273711750" sldId="256"/>
        </pc:sldMkLst>
        <pc:spChg chg="mod">
          <ac:chgData name="Yashodeep Ahire" userId="a0c4882da2b5feb8" providerId="LiveId" clId="{E42D76C3-1178-4805-AD9E-6A5459AF6277}" dt="2026-09-10T18:57:33.479" v="0" actId="1076"/>
          <ac:spMkLst>
            <pc:docMk/>
            <pc:sldMk cId="3273711750" sldId="256"/>
            <ac:spMk id="5" creationId="{00000000-0000-0000-0000-000000000000}"/>
          </ac:spMkLst>
        </pc:spChg>
      </pc:sldChg>
      <pc:sldChg chg="addSp modSp mod">
        <pc:chgData name="Yashodeep Ahire" userId="a0c4882da2b5feb8" providerId="LiveId" clId="{E42D76C3-1178-4805-AD9E-6A5459AF6277}" dt="2026-09-10T19:29:16.687" v="17" actId="14100"/>
        <pc:sldMkLst>
          <pc:docMk/>
          <pc:sldMk cId="2441580652" sldId="260"/>
        </pc:sldMkLst>
        <pc:spChg chg="mod">
          <ac:chgData name="Yashodeep Ahire" userId="a0c4882da2b5feb8" providerId="LiveId" clId="{E42D76C3-1178-4805-AD9E-6A5459AF6277}" dt="2026-09-10T19:15:36.595" v="9" actId="14100"/>
          <ac:spMkLst>
            <pc:docMk/>
            <pc:sldMk cId="2441580652" sldId="260"/>
            <ac:spMk id="9" creationId="{00000000-0000-0000-0000-000000000000}"/>
          </ac:spMkLst>
        </pc:spChg>
        <pc:picChg chg="add mod">
          <ac:chgData name="Yashodeep Ahire" userId="a0c4882da2b5feb8" providerId="LiveId" clId="{E42D76C3-1178-4805-AD9E-6A5459AF6277}" dt="2026-09-10T19:29:16.687" v="17" actId="14100"/>
          <ac:picMkLst>
            <pc:docMk/>
            <pc:sldMk cId="2441580652" sldId="260"/>
            <ac:picMk id="11" creationId="{3D56FAB2-9383-E37E-EF3C-FAA7304526AE}"/>
          </ac:picMkLst>
        </pc:picChg>
      </pc:sldChg>
      <pc:sldChg chg="modSp mod">
        <pc:chgData name="Yashodeep Ahire" userId="a0c4882da2b5feb8" providerId="LiveId" clId="{E42D76C3-1178-4805-AD9E-6A5459AF6277}" dt="2026-09-10T19:14:14.619" v="4" actId="1076"/>
        <pc:sldMkLst>
          <pc:docMk/>
          <pc:sldMk cId="4022766797" sldId="261"/>
        </pc:sldMkLst>
        <pc:spChg chg="mod">
          <ac:chgData name="Yashodeep Ahire" userId="a0c4882da2b5feb8" providerId="LiveId" clId="{E42D76C3-1178-4805-AD9E-6A5459AF6277}" dt="2026-09-10T19:14:08.715" v="3" actId="1076"/>
          <ac:spMkLst>
            <pc:docMk/>
            <pc:sldMk cId="4022766797" sldId="261"/>
            <ac:spMk id="3" creationId="{5AB83023-6ABF-54F6-8D80-F7783173C4CB}"/>
          </ac:spMkLst>
        </pc:spChg>
        <pc:spChg chg="mod">
          <ac:chgData name="Yashodeep Ahire" userId="a0c4882da2b5feb8" providerId="LiveId" clId="{E42D76C3-1178-4805-AD9E-6A5459AF6277}" dt="2026-09-10T19:14:14.619" v="4" actId="1076"/>
          <ac:spMkLst>
            <pc:docMk/>
            <pc:sldMk cId="4022766797" sldId="261"/>
            <ac:spMk id="9" creationId="{00000000-0000-0000-0000-000000000000}"/>
          </ac:spMkLst>
        </pc:spChg>
      </pc:sldChg>
      <pc:sldChg chg="modSp mod">
        <pc:chgData name="Yashodeep Ahire" userId="a0c4882da2b5feb8" providerId="LiveId" clId="{E42D76C3-1178-4805-AD9E-6A5459AF6277}" dt="2026-09-10T19:13:45.150" v="1" actId="1076"/>
        <pc:sldMkLst>
          <pc:docMk/>
          <pc:sldMk cId="954940262" sldId="267"/>
        </pc:sldMkLst>
        <pc:spChg chg="mod">
          <ac:chgData name="Yashodeep Ahire" userId="a0c4882da2b5feb8" providerId="LiveId" clId="{E42D76C3-1178-4805-AD9E-6A5459AF6277}" dt="2026-09-10T19:13:45.150" v="1" actId="1076"/>
          <ac:spMkLst>
            <pc:docMk/>
            <pc:sldMk cId="954940262" sldId="267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F2D5B-6C4C-447A-86DA-18F56B8D5554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06DDA-2E26-4C81-B2AF-BC88B913B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188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6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5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5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8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5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9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2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0FB9A-A01F-4D0B-B92B-B4BF3E327EA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6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glish.lokshahi.com/politics/7-points-currently-being-discussed-in-politics-regarding-farmers-issues-12510234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152354" y="355488"/>
            <a:ext cx="5205663" cy="340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indent="457200" algn="ctr"/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Semester</a:t>
            </a:r>
            <a:r>
              <a:rPr kumimoji="0" lang="en-US" sz="2800" b="1" i="0" u="none" strike="noStrike" cap="none" normalizeH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Project - I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                           “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Krishisetu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”</a:t>
            </a:r>
            <a:endParaRPr lang="en-US" sz="2800" b="1" dirty="0">
              <a:solidFill>
                <a:srgbClr val="993300"/>
              </a:solidFill>
              <a:latin typeface="Ajile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By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1. </a:t>
            </a:r>
            <a:r>
              <a:rPr lang="en-US" sz="16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Rohit Borse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251106003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&amp; </a:t>
            </a:r>
            <a:r>
              <a:rPr lang="en-US" sz="16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03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)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800000"/>
                </a:solidFill>
                <a:latin typeface="Cambria" panose="02040503050406030204" pitchFamily="18" charset="0"/>
              </a:rPr>
              <a:t> 2. Tanmay Mahajan (251106005 &amp; 05)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800000"/>
                </a:solidFill>
                <a:latin typeface="Cambria" panose="02040503050406030204" pitchFamily="18" charset="0"/>
              </a:rPr>
              <a:t> 3. Anupkumar Patil(251106006 &amp; 06)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800000"/>
                </a:solidFill>
                <a:latin typeface="Cambria" panose="02040503050406030204" pitchFamily="18" charset="0"/>
              </a:rPr>
              <a:t> 4. Yashodeep Ahire (251106061 &amp; 55)</a:t>
            </a:r>
            <a:endParaRPr lang="en-US" sz="1050" dirty="0"/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050" b="1" dirty="0">
              <a:latin typeface="Cambria" panose="02040503050406030204" pitchFamily="18" charset="0"/>
              <a:ea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Under the Guidance of </a:t>
            </a:r>
            <a:endParaRPr lang="en-US" sz="1600" b="1" dirty="0">
              <a:latin typeface="Cambria" panose="02040503050406030204" pitchFamily="18" charset="0"/>
              <a:ea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>
                <a:latin typeface="Cambria" panose="02040503050406030204" pitchFamily="18" charset="0"/>
                <a:ea typeface="Times New Roman" panose="02020603050405020304" pitchFamily="18" charset="0"/>
              </a:rPr>
              <a:t>P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rof. Dr. </a:t>
            </a:r>
            <a:r>
              <a:rPr lang="en-US" sz="1600" b="1" dirty="0">
                <a:latin typeface="Cambria" panose="02040503050406030204" pitchFamily="18" charset="0"/>
                <a:ea typeface="Times New Roman" panose="02020603050405020304" pitchFamily="18" charset="0"/>
              </a:rPr>
              <a:t>U. M. Patil Mam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" descr="SE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326" y="3601314"/>
            <a:ext cx="2110253" cy="184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635680" y="5326106"/>
            <a:ext cx="7365863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cs typeface="Arial" panose="020B0604020202020204" pitchFamily="34" charset="0"/>
              </a:rPr>
              <a:t>Department of </a:t>
            </a: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Computer Science &amp; Engineering (Data Science)</a:t>
            </a:r>
            <a:endParaRPr kumimoji="0" lang="en-US" sz="2200" b="1" i="0" u="none" strike="noStrike" cap="none" normalizeH="0" baseline="0" dirty="0">
              <a:ln>
                <a:noFill/>
              </a:ln>
              <a:solidFill>
                <a:srgbClr val="993300"/>
              </a:solidFill>
              <a:effectLst/>
              <a:latin typeface="Ajile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Shirpur Education Society’s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R. C. Patel Institute of Technology, Shirpur - 425405.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[2026-27]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Parallelogram 6"/>
          <p:cNvSpPr/>
          <p:nvPr/>
        </p:nvSpPr>
        <p:spPr>
          <a:xfrm flipV="1">
            <a:off x="99607" y="35628"/>
            <a:ext cx="11887694" cy="245216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>
            <a:off x="99607" y="6585690"/>
            <a:ext cx="11887693" cy="272310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1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60" y="383998"/>
            <a:ext cx="10192080" cy="609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Department of Computer Science &amp; Engineering (Data Science) Department Vision </a:t>
            </a:r>
          </a:p>
          <a:p>
            <a:pPr>
              <a:lnSpc>
                <a:spcPct val="120000"/>
              </a:lnSpc>
            </a:pPr>
            <a:r>
              <a:rPr lang="en-US" dirty="0"/>
              <a:t>To provide cutting-edge Computer Engineering education in Data Science while instilling socio-moral values. </a:t>
            </a:r>
          </a:p>
          <a:p>
            <a:pPr>
              <a:lnSpc>
                <a:spcPct val="120000"/>
              </a:lnSpc>
            </a:pPr>
            <a:r>
              <a:rPr lang="en-US" dirty="0"/>
              <a:t>Department Mission </a:t>
            </a:r>
          </a:p>
          <a:p>
            <a:pPr>
              <a:lnSpc>
                <a:spcPct val="120000"/>
              </a:lnSpc>
            </a:pPr>
            <a:r>
              <a:rPr lang="en-US" dirty="0"/>
              <a:t>M1: To deliver state-of-the-art, ICT-enabled teaching and learning to achieve excellence in Data Science education. </a:t>
            </a:r>
          </a:p>
          <a:p>
            <a:pPr>
              <a:lnSpc>
                <a:spcPct val="120000"/>
              </a:lnSpc>
            </a:pPr>
            <a:r>
              <a:rPr lang="en-US" dirty="0"/>
              <a:t>M2: To develop professionally competent Data Science Engineers, meeting evolving industrial and societal needs. </a:t>
            </a:r>
          </a:p>
          <a:p>
            <a:pPr>
              <a:lnSpc>
                <a:spcPct val="120000"/>
              </a:lnSpc>
            </a:pPr>
            <a:r>
              <a:rPr lang="en-US" dirty="0"/>
              <a:t>M3: To prepare employable professionals with ethical values and a commitment to professional and social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67536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2115"/>
            <a:ext cx="10515600" cy="49672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Project-I (RCP23XSC201P)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2617"/>
            <a:ext cx="10515600" cy="518899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Objective(s):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expected to design, simulate/implement a project based on the knowledge acquired from current semester subjects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a survey of several available literatures in the preferred field of study.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 various/alternate approaches to complete a project.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 collaborative project environment by interacting and dividing project work among team members.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technical communication skills to present project work in the form of a technical report/paper.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teamwork and project management skills to plan, execute, and manage the research study.</a:t>
            </a:r>
          </a:p>
        </p:txBody>
      </p:sp>
    </p:spTree>
    <p:extLst>
      <p:ext uri="{BB962C8B-B14F-4D97-AF65-F5344CB8AC3E}">
        <p14:creationId xmlns:p14="http://schemas.microsoft.com/office/powerpoint/2010/main" val="465158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D56FAB2-9383-E37E-EF3C-FAA730452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7100" r="22569" b="8146"/>
          <a:stretch>
            <a:fillRect/>
          </a:stretch>
        </p:blipFill>
        <p:spPr>
          <a:xfrm>
            <a:off x="9094304" y="2815359"/>
            <a:ext cx="3097696" cy="2979154"/>
          </a:xfrm>
          <a:prstGeom prst="rect">
            <a:avLst/>
          </a:prstGeom>
          <a:effectLst>
            <a:reflection stA="0" endPos="65000" dist="50800" dir="5400000" sy="-100000" algn="bl" rotWithShape="0"/>
            <a:softEdge rad="762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1725" y="135735"/>
            <a:ext cx="298857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4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18211" y="2077438"/>
            <a:ext cx="9415074" cy="4351338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platform designed to help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farmers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agricultural  e-commerce and equipment rental.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modules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🛒 Agricultural Marketplace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🚜 Equipment Rental System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can purchase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seeds, fertilisers, and pesticides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vendors.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can also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book agricultural equipment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rental uses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 queue with automatic 24-hour confirmation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fair booking.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692F6-9D06-3335-2065-EA3EAF6F26E5}"/>
              </a:ext>
            </a:extLst>
          </p:cNvPr>
          <p:cNvSpPr txBox="1"/>
          <p:nvPr/>
        </p:nvSpPr>
        <p:spPr>
          <a:xfrm>
            <a:off x="930442" y="1429778"/>
            <a:ext cx="101736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Krishisetu – Smart Agricultural Marketplace &amp; Equipment Rental Platform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41580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30088" y="1578145"/>
            <a:ext cx="9658693" cy="5029160"/>
          </a:xfrm>
        </p:spPr>
        <p:txBody>
          <a:bodyPr>
            <a:normAutofit/>
          </a:bodyPr>
          <a:lstStyle/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farmers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agricultural marketplace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ts val="2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farmers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products, prices and availability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ts val="2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organized platform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renting agricultural equipment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ts val="2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equipment booking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systematic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FCFS. </a:t>
            </a:r>
          </a:p>
          <a:p>
            <a:pPr lvl="0">
              <a:lnSpc>
                <a:spcPts val="2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dependency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informal phone-based rental arrangements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ts val="2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mobile-friendly platform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rural users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83023-6ABF-54F6-8D80-F7783173C4CB}"/>
              </a:ext>
            </a:extLst>
          </p:cNvPr>
          <p:cNvSpPr txBox="1"/>
          <p:nvPr/>
        </p:nvSpPr>
        <p:spPr>
          <a:xfrm>
            <a:off x="4078978" y="596601"/>
            <a:ext cx="6168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766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06905" y="1719063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mainly purchase inputs through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dealers/wholesalers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ts val="22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prices and products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different sellers.</a:t>
            </a:r>
          </a:p>
          <a:p>
            <a:pPr marL="0" lvl="0" indent="0">
              <a:lnSpc>
                <a:spcPts val="22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rental is often handled through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calls or informal contacts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ts val="22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standardized booking or queue system. </a:t>
            </a:r>
          </a:p>
          <a:p>
            <a:pPr lvl="0">
              <a:lnSpc>
                <a:spcPts val="22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farmers may request the same equipment without a clear fairness mechanism.</a:t>
            </a:r>
          </a:p>
          <a:p>
            <a:pPr>
              <a:lnSpc>
                <a:spcPts val="2200"/>
              </a:lnSpc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965F4-2388-ACDE-D653-CF3341747655}"/>
              </a:ext>
            </a:extLst>
          </p:cNvPr>
          <p:cNvSpPr txBox="1"/>
          <p:nvPr/>
        </p:nvSpPr>
        <p:spPr>
          <a:xfrm>
            <a:off x="3914274" y="625642"/>
            <a:ext cx="49008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survey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229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7A5D-DC22-98B7-5AD6-F21CF9FF2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270" y="611887"/>
            <a:ext cx="7190873" cy="132556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4A91E-CF3C-B3AC-396C-CE3A5B1CB2CB}"/>
              </a:ext>
            </a:extLst>
          </p:cNvPr>
          <p:cNvSpPr txBox="1"/>
          <p:nvPr/>
        </p:nvSpPr>
        <p:spPr>
          <a:xfrm>
            <a:off x="613611" y="2047924"/>
            <a:ext cx="881513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price/availability comparison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Informal equipment booking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managing multiple booking requests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transparent queue management</a:t>
            </a:r>
          </a:p>
          <a:p>
            <a:endParaRPr lang="en-IN" dirty="0"/>
          </a:p>
        </p:txBody>
      </p:sp>
      <p:sp>
        <p:nvSpPr>
          <p:cNvPr id="4" name="Parallelogram 6">
            <a:extLst>
              <a:ext uri="{FF2B5EF4-FFF2-40B4-BE49-F238E27FC236}">
                <a16:creationId xmlns:a16="http://schemas.microsoft.com/office/drawing/2014/main" id="{6DEC2358-8760-0B16-9A22-315808FBFFED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6">
            <a:extLst>
              <a:ext uri="{FF2B5EF4-FFF2-40B4-BE49-F238E27FC236}">
                <a16:creationId xmlns:a16="http://schemas.microsoft.com/office/drawing/2014/main" id="{E2F906C8-C145-ABDC-CC2C-B2D05F78A989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82990F-3240-67DA-844C-87B385799C90}"/>
              </a:ext>
            </a:extLst>
          </p:cNvPr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7" name="Shape 454">
              <a:extLst>
                <a:ext uri="{FF2B5EF4-FFF2-40B4-BE49-F238E27FC236}">
                  <a16:creationId xmlns:a16="http://schemas.microsoft.com/office/drawing/2014/main" id="{2FD17E36-CCAE-BBA9-4F3A-F98AD0B325FB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CC10A73-3BEE-3E0C-A987-136DCEC11999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230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471701" y="1958408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registration/login </a:t>
            </a:r>
          </a:p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registration </a:t>
            </a:r>
          </a:p>
          <a:p>
            <a:pPr marL="0" lvl="0" indent="0">
              <a:buNone/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listing </a:t>
            </a:r>
          </a:p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search &amp; filtering </a:t>
            </a:r>
          </a:p>
          <a:p>
            <a:pPr lvl="0"/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and checkout </a:t>
            </a:r>
          </a:p>
          <a:p>
            <a:pPr marL="0" lvl="0" indent="0"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tracking/history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76A58-AF77-BF51-42ED-B600DFA28069}"/>
              </a:ext>
            </a:extLst>
          </p:cNvPr>
          <p:cNvSpPr txBox="1"/>
          <p:nvPr/>
        </p:nvSpPr>
        <p:spPr>
          <a:xfrm>
            <a:off x="3159563" y="488724"/>
            <a:ext cx="5462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30415-6DB9-56EB-0E7F-2F17F605D477}"/>
              </a:ext>
            </a:extLst>
          </p:cNvPr>
          <p:cNvSpPr txBox="1"/>
          <p:nvPr/>
        </p:nvSpPr>
        <p:spPr>
          <a:xfrm>
            <a:off x="3518140" y="1257398"/>
            <a:ext cx="4745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Input Marketplace 🛒</a:t>
            </a:r>
          </a:p>
        </p:txBody>
      </p:sp>
    </p:spTree>
    <p:extLst>
      <p:ext uri="{BB962C8B-B14F-4D97-AF65-F5344CB8AC3E}">
        <p14:creationId xmlns:p14="http://schemas.microsoft.com/office/powerpoint/2010/main" val="489212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3F191-13B4-A7B6-1AC3-13D777B66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119" y="31265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Equipment Rental 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544CA-38A3-B0EF-AEC2-97FB6A326A77}"/>
              </a:ext>
            </a:extLst>
          </p:cNvPr>
          <p:cNvSpPr txBox="1"/>
          <p:nvPr/>
        </p:nvSpPr>
        <p:spPr>
          <a:xfrm>
            <a:off x="1359119" y="1638217"/>
            <a:ext cx="54302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listing 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search/filter 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checking 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request 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 queue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24-hour confirmation window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status tracking</a:t>
            </a:r>
          </a:p>
          <a:p>
            <a:endParaRPr lang="en-IN" dirty="0"/>
          </a:p>
        </p:txBody>
      </p:sp>
      <p:sp>
        <p:nvSpPr>
          <p:cNvPr id="4" name="Parallelogram 6">
            <a:extLst>
              <a:ext uri="{FF2B5EF4-FFF2-40B4-BE49-F238E27FC236}">
                <a16:creationId xmlns:a16="http://schemas.microsoft.com/office/drawing/2014/main" id="{EDB29A30-7164-DEC3-6B13-D87B9477FA02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6">
            <a:extLst>
              <a:ext uri="{FF2B5EF4-FFF2-40B4-BE49-F238E27FC236}">
                <a16:creationId xmlns:a16="http://schemas.microsoft.com/office/drawing/2014/main" id="{E03A3B89-8975-22B5-9CF4-C5545EB72088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87A68B-41EF-868F-07AD-22CC8C198233}"/>
              </a:ext>
            </a:extLst>
          </p:cNvPr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7" name="Shape 454">
              <a:extLst>
                <a:ext uri="{FF2B5EF4-FFF2-40B4-BE49-F238E27FC236}">
                  <a16:creationId xmlns:a16="http://schemas.microsoft.com/office/drawing/2014/main" id="{2BB73D67-2EAF-EBF7-EC0B-12DF271831A9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7A65AF3-F7D3-F484-EFC3-F211AA55A42D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0693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B1CE2-5D88-A3E8-8C67-9308C3EAE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518" y="2517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Admin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31DF8-9E87-084E-4D94-B07C46D402F4}"/>
              </a:ext>
            </a:extLst>
          </p:cNvPr>
          <p:cNvSpPr txBox="1"/>
          <p:nvPr/>
        </p:nvSpPr>
        <p:spPr>
          <a:xfrm>
            <a:off x="1340458" y="2136338"/>
            <a:ext cx="76119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listings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orders and bookings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disputes/suspensions</a:t>
            </a:r>
          </a:p>
          <a:p>
            <a:endParaRPr lang="en-IN" dirty="0"/>
          </a:p>
        </p:txBody>
      </p:sp>
      <p:sp>
        <p:nvSpPr>
          <p:cNvPr id="4" name="Parallelogram 6">
            <a:extLst>
              <a:ext uri="{FF2B5EF4-FFF2-40B4-BE49-F238E27FC236}">
                <a16:creationId xmlns:a16="http://schemas.microsoft.com/office/drawing/2014/main" id="{94238C65-9233-7B4C-3BD6-E6FC59ED6626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6">
            <a:extLst>
              <a:ext uri="{FF2B5EF4-FFF2-40B4-BE49-F238E27FC236}">
                <a16:creationId xmlns:a16="http://schemas.microsoft.com/office/drawing/2014/main" id="{4BA4BCEF-82BC-E168-3F67-B1D8BE1BC2AA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3F0A58-8193-6E79-EDB1-4DF3FA4D78B7}"/>
              </a:ext>
            </a:extLst>
          </p:cNvPr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7" name="Shape 454">
              <a:extLst>
                <a:ext uri="{FF2B5EF4-FFF2-40B4-BE49-F238E27FC236}">
                  <a16:creationId xmlns:a16="http://schemas.microsoft.com/office/drawing/2014/main" id="{68BC927E-237B-DFF4-8ABC-5FB3DC46FD88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E211E13-1CC6-0240-27E6-788AE4F284C3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78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484291" y="1249831"/>
            <a:ext cx="10192500" cy="5229257"/>
          </a:xfrm>
        </p:spPr>
        <p:txBody>
          <a:bodyPr>
            <a:noAutofit/>
          </a:bodyPr>
          <a:lstStyle/>
          <a:p>
            <a:pPr marL="0" indent="0">
              <a:lnSpc>
                <a:spcPts val="22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(CSS)</a:t>
            </a:r>
          </a:p>
          <a:p>
            <a:pPr marL="0" lvl="0" indent="0">
              <a:lnSpc>
                <a:spcPts val="2200"/>
              </a:lnSpc>
              <a:buNone/>
            </a:pPr>
            <a:endParaRPr lang="en-I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ts val="22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 (Python)</a:t>
            </a:r>
          </a:p>
          <a:p>
            <a:pPr marL="0" lvl="0" indent="0">
              <a:lnSpc>
                <a:spcPts val="2200"/>
              </a:lnSpc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</a:p>
          <a:p>
            <a:pPr marL="0" indent="0">
              <a:lnSpc>
                <a:spcPts val="2200"/>
              </a:lnSpc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 Security Tools</a:t>
            </a: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Web Token [JWT]</a:t>
            </a:r>
          </a:p>
          <a:p>
            <a:pPr>
              <a:lnSpc>
                <a:spcPts val="2200"/>
              </a:lnSpc>
            </a:pP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0D1BD-7198-40F0-019A-1F06FBA231E4}"/>
              </a:ext>
            </a:extLst>
          </p:cNvPr>
          <p:cNvSpPr txBox="1"/>
          <p:nvPr/>
        </p:nvSpPr>
        <p:spPr>
          <a:xfrm>
            <a:off x="3977825" y="677878"/>
            <a:ext cx="4620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215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C6296-8108-F9FD-7DF9-23C76D69E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07261-7427-5F25-5234-749F8526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310B60E1-E5BE-7C7A-E34D-98E29208581F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>
            <a:extLst>
              <a:ext uri="{FF2B5EF4-FFF2-40B4-BE49-F238E27FC236}">
                <a16:creationId xmlns:a16="http://schemas.microsoft.com/office/drawing/2014/main" id="{69CF58E9-9D13-B6AA-30A1-24C3FAD25C0C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D88400-575E-E15E-071F-28A9D4321A97}"/>
              </a:ext>
            </a:extLst>
          </p:cNvPr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>
              <a:extLst>
                <a:ext uri="{FF2B5EF4-FFF2-40B4-BE49-F238E27FC236}">
                  <a16:creationId xmlns:a16="http://schemas.microsoft.com/office/drawing/2014/main" id="{6E0152CC-D0C1-5047-A42C-28F61B10D2FE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1B2427-E41C-161A-7777-E108D1C5381E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FC2730-9B7F-5076-FDAA-57596CF77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050" y="1116250"/>
            <a:ext cx="10192500" cy="52292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Razorpay – Test Mode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@Scheduled 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→ Vercel / Netlify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→ Supabase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→ Managed PostgreSQL 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3324E-384C-EE56-D105-FE3F65504EEF}"/>
              </a:ext>
            </a:extLst>
          </p:cNvPr>
          <p:cNvSpPr txBox="1"/>
          <p:nvPr/>
        </p:nvSpPr>
        <p:spPr>
          <a:xfrm>
            <a:off x="3977825" y="654585"/>
            <a:ext cx="4620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681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76950" y="1477680"/>
            <a:ext cx="10515600" cy="5187743"/>
          </a:xfrm>
        </p:spPr>
        <p:txBody>
          <a:bodyPr>
            <a:noAutofit/>
          </a:bodyPr>
          <a:lstStyle/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requirements and problem definition finalised. </a:t>
            </a:r>
          </a:p>
          <a:p>
            <a:pPr lvl="0">
              <a:lnSpc>
                <a:spcPts val="2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 and modules identified. </a:t>
            </a:r>
          </a:p>
          <a:p>
            <a:pPr lvl="0">
              <a:lnSpc>
                <a:spcPts val="2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system architecture designed. </a:t>
            </a:r>
          </a:p>
          <a:p>
            <a:pPr lvl="0">
              <a:lnSpc>
                <a:spcPts val="2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entities and relationships planned. </a:t>
            </a:r>
          </a:p>
          <a:p>
            <a:pPr lvl="0">
              <a:lnSpc>
                <a:spcPts val="2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selected. </a:t>
            </a:r>
          </a:p>
          <a:p>
            <a:pPr lvl="0">
              <a:lnSpc>
                <a:spcPts val="2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project structure/setup completed. </a:t>
            </a:r>
          </a:p>
          <a:p>
            <a:pPr lvl="0">
              <a:lnSpc>
                <a:spcPts val="2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core marketplace/rental modules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initiated.</a:t>
            </a:r>
          </a:p>
          <a:p>
            <a:pPr>
              <a:lnSpc>
                <a:spcPts val="2000"/>
              </a:lnSpc>
            </a:pP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82B2F-3166-1AC0-35A0-5ADCCECA5D14}"/>
              </a:ext>
            </a:extLst>
          </p:cNvPr>
          <p:cNvSpPr txBox="1"/>
          <p:nvPr/>
        </p:nvSpPr>
        <p:spPr>
          <a:xfrm>
            <a:off x="3818458" y="594616"/>
            <a:ext cx="5347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Phase - I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273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50971F-FA5A-3002-DA4F-CB2D3996B557}"/>
              </a:ext>
            </a:extLst>
          </p:cNvPr>
          <p:cNvSpPr txBox="1"/>
          <p:nvPr/>
        </p:nvSpPr>
        <p:spPr>
          <a:xfrm>
            <a:off x="3561347" y="457200"/>
            <a:ext cx="6489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Remaining Workplan</a:t>
            </a:r>
          </a:p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3E31A9-D7B4-EC35-F5E8-A23BA06E4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701259"/>
              </p:ext>
            </p:extLst>
          </p:nvPr>
        </p:nvGraphicFramePr>
        <p:xfrm>
          <a:off x="0" y="1330204"/>
          <a:ext cx="12192000" cy="51342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929577349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063830395"/>
                    </a:ext>
                  </a:extLst>
                </a:gridCol>
              </a:tblGrid>
              <a:tr h="570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Research about problem statement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8510448"/>
                  </a:ext>
                </a:extLst>
              </a:tr>
              <a:tr h="570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User authentication &amp; role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016013"/>
                  </a:ext>
                </a:extLst>
              </a:tr>
              <a:tr h="570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Phase III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Product listing, search &amp; marketplace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638185"/>
                  </a:ext>
                </a:extLst>
              </a:tr>
              <a:tr h="570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Phase 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Equipment listing &amp; booking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16742"/>
                  </a:ext>
                </a:extLst>
              </a:tr>
              <a:tr h="570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Phase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FCFS queue + 24-hour expiry automation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757791"/>
                  </a:ext>
                </a:extLst>
              </a:tr>
              <a:tr h="570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Phase 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Cart &amp; Razorpay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287310"/>
                  </a:ext>
                </a:extLst>
              </a:tr>
              <a:tr h="570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Phase VII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Admin panel &amp; order/booking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838506"/>
                  </a:ext>
                </a:extLst>
              </a:tr>
              <a:tr h="570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Phase VIII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Testing &amp; bug fixing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470426"/>
                  </a:ext>
                </a:extLst>
              </a:tr>
              <a:tr h="570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Deployment &amp; final demonstration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921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849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57290"/>
            <a:ext cx="10515600" cy="5490319"/>
          </a:xfrm>
        </p:spPr>
        <p:txBody>
          <a:bodyPr>
            <a:normAutofit/>
          </a:bodyPr>
          <a:lstStyle/>
          <a:p>
            <a:pPr lvl="0">
              <a:lnSpc>
                <a:spcPts val="22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Krishisetu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provide a unified digital platform for agricultural purchasing and equipment rental. </a:t>
            </a:r>
          </a:p>
          <a:p>
            <a:pPr lvl="0">
              <a:lnSpc>
                <a:spcPts val="22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problems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accessibility and informal equipment booking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ts val="22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marketplace functionality with a fair FCFS rental mechanism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ts val="22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being developed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Spring Boot and PostgreSQL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>
              <a:lnSpc>
                <a:spcPts val="22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22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includes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support, notifications, logistics tracking and other enhancements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2200"/>
              </a:lnSpc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EAA4A-B57F-76BE-E0C8-0BCF642B8B9F}"/>
              </a:ext>
            </a:extLst>
          </p:cNvPr>
          <p:cNvSpPr txBox="1"/>
          <p:nvPr/>
        </p:nvSpPr>
        <p:spPr>
          <a:xfrm>
            <a:off x="4751520" y="351569"/>
            <a:ext cx="5566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4940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3631811-6E05-0D7F-2B44-BDB0EDD67F05}"/>
              </a:ext>
            </a:extLst>
          </p:cNvPr>
          <p:cNvSpPr txBox="1"/>
          <p:nvPr/>
        </p:nvSpPr>
        <p:spPr>
          <a:xfrm rot="601498">
            <a:off x="2728564" y="1802327"/>
            <a:ext cx="732377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600" dirty="0">
                <a:latin typeface="Chiller" panose="040204040310070206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47459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ML template" id="{A582DF50-CA20-4E39-9F6B-D62AA82E090D}" vid="{64422D4D-F908-4C3E-8895-83C3E8A2D8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AIML template</Template>
  <TotalTime>225</TotalTime>
  <Words>811</Words>
  <Application>Microsoft Office PowerPoint</Application>
  <PresentationFormat>Widescreen</PresentationFormat>
  <Paragraphs>182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Ajile</vt:lpstr>
      <vt:lpstr>Aptos</vt:lpstr>
      <vt:lpstr>Arial</vt:lpstr>
      <vt:lpstr>Calibri</vt:lpstr>
      <vt:lpstr>Calibri Light</vt:lpstr>
      <vt:lpstr>Cambria</vt:lpstr>
      <vt:lpstr>Chiller</vt:lpstr>
      <vt:lpstr>Times New Roman</vt:lpstr>
      <vt:lpstr>Office Theme</vt:lpstr>
      <vt:lpstr>PowerPoint Presentation</vt:lpstr>
      <vt:lpstr>PowerPoint Presentation</vt:lpstr>
      <vt:lpstr>PowerPoint Presentation</vt:lpstr>
      <vt:lpstr>Semester Project-I (RCP23XSC201P)</vt:lpstr>
      <vt:lpstr> Introduction </vt:lpstr>
      <vt:lpstr> </vt:lpstr>
      <vt:lpstr> </vt:lpstr>
      <vt:lpstr>Problems Identified </vt:lpstr>
      <vt:lpstr> </vt:lpstr>
      <vt:lpstr>Module 2 – Equipment Rental 🚜</vt:lpstr>
      <vt:lpstr>Module 3 – Admin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RCPIT</dc:creator>
  <cp:lastModifiedBy>Chetan Desale</cp:lastModifiedBy>
  <cp:revision>16</cp:revision>
  <dcterms:created xsi:type="dcterms:W3CDTF">2023-11-04T09:41:24Z</dcterms:created>
  <dcterms:modified xsi:type="dcterms:W3CDTF">2026-09-11T17:00:14Z</dcterms:modified>
</cp:coreProperties>
</file>